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9" r:id="rId2"/>
    <p:sldId id="293" r:id="rId3"/>
    <p:sldId id="296" r:id="rId4"/>
    <p:sldId id="282" r:id="rId5"/>
    <p:sldId id="283" r:id="rId6"/>
    <p:sldId id="292" r:id="rId7"/>
    <p:sldId id="286" r:id="rId8"/>
    <p:sldId id="287" r:id="rId9"/>
    <p:sldId id="288" r:id="rId10"/>
    <p:sldId id="295" r:id="rId11"/>
    <p:sldId id="2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/>
    <p:restoredTop sz="94698"/>
  </p:normalViewPr>
  <p:slideViewPr>
    <p:cSldViewPr snapToGrid="0">
      <p:cViewPr varScale="1">
        <p:scale>
          <a:sx n="141" d="100"/>
          <a:sy n="141" d="100"/>
        </p:scale>
        <p:origin x="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v>Start Offset</c:v>
          </c:tx>
          <c:spPr>
            <a:noFill/>
            <a:ln>
              <a:noFill/>
            </a:ln>
          </c:spPr>
          <c:invertIfNegative val="1"/>
          <c:cat>
            <c:strLit>
              <c:ptCount val="51"/>
              <c:pt idx="0">
                <c:v>2.1.M1  Project Complete — All integration workflows depl...</c:v>
              </c:pt>
              <c:pt idx="1">
                <c:v>2.1.D1  Integration deployed &amp; operational</c:v>
              </c:pt>
              <c:pt idx="2">
                <c:v>2.1.3  Deploy integration as a separate milestone</c:v>
              </c:pt>
              <c:pt idx="3">
                <c:v>2.1.2  Execute integration testing</c:v>
              </c:pt>
              <c:pt idx="4">
                <c:v>2.1.1  Develop integration workflows post go-live</c:v>
              </c:pt>
              <c:pt idx="5">
                <c:v>2.1  Integration</c:v>
              </c:pt>
              <c:pt idx="6">
                <c:v>1.5.M1  Phase 1 Complete — Go-Live, stakeholder sign-off ...</c:v>
              </c:pt>
              <c:pt idx="7">
                <c:v>1.5.D1  Final Project Report &amp; Stakeholder Sign-Off</c:v>
              </c:pt>
              <c:pt idx="8">
                <c:v>1.5.CR2  Review Documentation (if applicable)</c:v>
              </c:pt>
              <c:pt idx="9">
                <c:v>1.5.CR1  Participate in Handover</c:v>
              </c:pt>
              <c:pt idx="10">
                <c:v>1.5.3  Migrate delta data &amp; deploy final content + integr...</c:v>
              </c:pt>
              <c:pt idx="11">
                <c:v>1.5.2  Capture feedback, resolve defects</c:v>
              </c:pt>
              <c:pt idx="12">
                <c:v>1.5.1  Execute UAT with business users</c:v>
              </c:pt>
              <c:pt idx="13">
                <c:v>1.5  Final Validation &amp; Deployment Prep</c:v>
              </c:pt>
              <c:pt idx="14">
                <c:v>1.4.M1  SIT &amp; KUT Complete — UAT-ready, content signed off</c:v>
              </c:pt>
              <c:pt idx="15">
                <c:v>1.4.D2  All transformed content verified and signed off b...</c:v>
              </c:pt>
              <c:pt idx="16">
                <c:v>1.4.D1  UAT-ready system</c:v>
              </c:pt>
              <c:pt idx="17">
                <c:v>1.4.CR3  Review final transformed content and provide sig...</c:v>
              </c:pt>
              <c:pt idx="18">
                <c:v>1.4.CR2  Provide UAT Feedback</c:v>
              </c:pt>
              <c:pt idx="19">
                <c:v>1.4.CR1  Conduct UAT</c:v>
              </c:pt>
              <c:pt idx="20">
                <c:v>1.4.3  Conduct KUT (Key User Training)</c:v>
              </c:pt>
              <c:pt idx="21">
                <c:v>1.4.2  Execute SIT (System Integration Testing)</c:v>
              </c:pt>
              <c:pt idx="22">
                <c:v>1.4.1  Complete content transformation and get sign-off</c:v>
              </c:pt>
              <c:pt idx="23">
                <c:v>1.4  SIT &amp; KUT</c:v>
              </c:pt>
              <c:pt idx="24">
                <c:v>1.3.M1  Full Migration Complete — UAT plan ready, data in...</c:v>
              </c:pt>
              <c:pt idx="25">
                <c:v>1.3.D2  UAT Plan</c:v>
              </c:pt>
              <c:pt idx="26">
                <c:v>1.3.D1  Content transformation progress report</c:v>
              </c:pt>
              <c:pt idx="27">
                <c:v>1.3.CR2  Confirm UAT Scope</c:v>
              </c:pt>
              <c:pt idx="28">
                <c:v>1.3.CR1  Review UAT Migration Results</c:v>
              </c:pt>
              <c:pt idx="29">
                <c:v>1.3.4  Prepare UAT plan and user stories</c:v>
              </c:pt>
              <c:pt idx="30">
                <c:v>1.3.3  Run data integrity checks</c:v>
              </c:pt>
              <c:pt idx="31">
                <c:v>1.3.2  Content Transformation — begin modifying content i...</c:v>
              </c:pt>
              <c:pt idx="32">
                <c:v>1.3.1  Execute migration to UAT environment</c:v>
              </c:pt>
              <c:pt idx="33">
                <c:v>1.3  Full Migration</c:v>
              </c:pt>
              <c:pt idx="34">
                <c:v>1.2.M1  Initial Migration Complete — SSO &amp; migration scri...</c:v>
              </c:pt>
              <c:pt idx="35">
                <c:v>1.2.D2  Initial migration plans</c:v>
              </c:pt>
              <c:pt idx="36">
                <c:v>1.2.D1  SSO integration setup complete</c:v>
              </c:pt>
              <c:pt idx="37">
                <c:v>1.2.3  Validate integration test endpoints</c:v>
              </c:pt>
              <c:pt idx="38">
                <c:v>1.2.2  Develop Initial Migration Script</c:v>
              </c:pt>
              <c:pt idx="39">
                <c:v>1.2.1  Set up SSO Authentication</c:v>
              </c:pt>
              <c:pt idx="40">
                <c:v>1.2  Initial Migration</c:v>
              </c:pt>
              <c:pt idx="41">
                <c:v>1.1.M1  Prep Phase Complete — Project plan finalized, env...</c:v>
              </c:pt>
              <c:pt idx="42">
                <c:v>1.1.CR1  Help in finalizing project goals, expectations, ...</c:v>
              </c:pt>
              <c:pt idx="43">
                <c:v>1.1.CD2  API access and credentials provided</c:v>
              </c:pt>
              <c:pt idx="44">
                <c:v>1.1.CD1  Signed-off project charter</c:v>
              </c:pt>
              <c:pt idx="45">
                <c:v>1.1.5  Set up UAT and Prod environments</c:v>
              </c:pt>
              <c:pt idx="46">
                <c:v>1.1.4  Prepare and finalize project plan</c:v>
              </c:pt>
              <c:pt idx="47">
                <c:v>1.1.3  Receive 3rd-party APIs from Client for integration</c:v>
              </c:pt>
              <c:pt idx="48">
                <c:v>1.1.2  Define key stakeholders and project governance</c:v>
              </c:pt>
              <c:pt idx="49">
                <c:v>1.1.1  Conduct kickoff meeting</c:v>
              </c:pt>
              <c:pt idx="50">
                <c:v>1.1  Prep Phase</c:v>
              </c:pt>
            </c:strLit>
          </c:cat>
          <c:val>
            <c:numLit>
              <c:formatCode>General</c:formatCode>
              <c:ptCount val="51"/>
              <c:pt idx="0">
                <c:v>59</c:v>
              </c:pt>
              <c:pt idx="1">
                <c:v>59</c:v>
              </c:pt>
              <c:pt idx="2">
                <c:v>57</c:v>
              </c:pt>
              <c:pt idx="3">
                <c:v>50</c:v>
              </c:pt>
              <c:pt idx="4">
                <c:v>40</c:v>
              </c:pt>
              <c:pt idx="5">
                <c:v>40</c:v>
              </c:pt>
              <c:pt idx="6">
                <c:v>39</c:v>
              </c:pt>
              <c:pt idx="7">
                <c:v>39</c:v>
              </c:pt>
              <c:pt idx="8">
                <c:v>38</c:v>
              </c:pt>
              <c:pt idx="9">
                <c:v>38</c:v>
              </c:pt>
              <c:pt idx="10">
                <c:v>37</c:v>
              </c:pt>
              <c:pt idx="11">
                <c:v>33</c:v>
              </c:pt>
              <c:pt idx="12">
                <c:v>30</c:v>
              </c:pt>
              <c:pt idx="13">
                <c:v>30</c:v>
              </c:pt>
              <c:pt idx="14">
                <c:v>29</c:v>
              </c:pt>
              <c:pt idx="15">
                <c:v>29</c:v>
              </c:pt>
              <c:pt idx="16">
                <c:v>29</c:v>
              </c:pt>
              <c:pt idx="17">
                <c:v>25</c:v>
              </c:pt>
              <c:pt idx="18">
                <c:v>27</c:v>
              </c:pt>
              <c:pt idx="19">
                <c:v>25</c:v>
              </c:pt>
              <c:pt idx="20">
                <c:v>27</c:v>
              </c:pt>
              <c:pt idx="21">
                <c:v>22</c:v>
              </c:pt>
              <c:pt idx="22">
                <c:v>20</c:v>
              </c:pt>
              <c:pt idx="23">
                <c:v>20</c:v>
              </c:pt>
              <c:pt idx="24">
                <c:v>19</c:v>
              </c:pt>
              <c:pt idx="25">
                <c:v>19</c:v>
              </c:pt>
              <c:pt idx="26">
                <c:v>19</c:v>
              </c:pt>
              <c:pt idx="27">
                <c:v>18</c:v>
              </c:pt>
              <c:pt idx="28">
                <c:v>18</c:v>
              </c:pt>
              <c:pt idx="29">
                <c:v>16</c:v>
              </c:pt>
              <c:pt idx="30">
                <c:v>17</c:v>
              </c:pt>
              <c:pt idx="31">
                <c:v>15</c:v>
              </c:pt>
              <c:pt idx="32">
                <c:v>15</c:v>
              </c:pt>
              <c:pt idx="33">
                <c:v>15</c:v>
              </c:pt>
              <c:pt idx="34">
                <c:v>14</c:v>
              </c:pt>
              <c:pt idx="35">
                <c:v>14</c:v>
              </c:pt>
              <c:pt idx="36">
                <c:v>14</c:v>
              </c:pt>
              <c:pt idx="37">
                <c:v>12</c:v>
              </c:pt>
              <c:pt idx="38">
                <c:v>10</c:v>
              </c:pt>
              <c:pt idx="39">
                <c:v>10</c:v>
              </c:pt>
              <c:pt idx="40">
                <c:v>10</c:v>
              </c:pt>
              <c:pt idx="41">
                <c:v>9</c:v>
              </c:pt>
              <c:pt idx="42">
                <c:v>0</c:v>
              </c:pt>
              <c:pt idx="43">
                <c:v>0</c:v>
              </c:pt>
              <c:pt idx="44">
                <c:v>7</c:v>
              </c:pt>
              <c:pt idx="45">
                <c:v>4</c:v>
              </c:pt>
              <c:pt idx="46">
                <c:v>2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8DAA-0F49-AF90-1DF11BD1E596}"/>
            </c:ext>
          </c:extLst>
        </c:ser>
        <c:ser>
          <c:idx val="1"/>
          <c:order val="1"/>
          <c:tx>
            <c:v>Duration</c:v>
          </c:tx>
          <c:spPr>
            <a:solidFill>
              <a:srgbClr val="2E75B6"/>
            </a:solidFill>
            <a:ln w="6350">
              <a:solidFill>
                <a:srgbClr val="1F4E79"/>
              </a:solidFill>
            </a:ln>
          </c:spPr>
          <c:invertIfNegative val="1"/>
          <c:cat>
            <c:strLit>
              <c:ptCount val="51"/>
              <c:pt idx="0">
                <c:v>2.1.M1  Project Complete — All integration workflows depl...</c:v>
              </c:pt>
              <c:pt idx="1">
                <c:v>2.1.D1  Integration deployed &amp; operational</c:v>
              </c:pt>
              <c:pt idx="2">
                <c:v>2.1.3  Deploy integration as a separate milestone</c:v>
              </c:pt>
              <c:pt idx="3">
                <c:v>2.1.2  Execute integration testing</c:v>
              </c:pt>
              <c:pt idx="4">
                <c:v>2.1.1  Develop integration workflows post go-live</c:v>
              </c:pt>
              <c:pt idx="5">
                <c:v>2.1  Integration</c:v>
              </c:pt>
              <c:pt idx="6">
                <c:v>1.5.M1  Phase 1 Complete — Go-Live, stakeholder sign-off ...</c:v>
              </c:pt>
              <c:pt idx="7">
                <c:v>1.5.D1  Final Project Report &amp; Stakeholder Sign-Off</c:v>
              </c:pt>
              <c:pt idx="8">
                <c:v>1.5.CR2  Review Documentation (if applicable)</c:v>
              </c:pt>
              <c:pt idx="9">
                <c:v>1.5.CR1  Participate in Handover</c:v>
              </c:pt>
              <c:pt idx="10">
                <c:v>1.5.3  Migrate delta data &amp; deploy final content + integr...</c:v>
              </c:pt>
              <c:pt idx="11">
                <c:v>1.5.2  Capture feedback, resolve defects</c:v>
              </c:pt>
              <c:pt idx="12">
                <c:v>1.5.1  Execute UAT with business users</c:v>
              </c:pt>
              <c:pt idx="13">
                <c:v>1.5  Final Validation &amp; Deployment Prep</c:v>
              </c:pt>
              <c:pt idx="14">
                <c:v>1.4.M1  SIT &amp; KUT Complete — UAT-ready, content signed off</c:v>
              </c:pt>
              <c:pt idx="15">
                <c:v>1.4.D2  All transformed content verified and signed off b...</c:v>
              </c:pt>
              <c:pt idx="16">
                <c:v>1.4.D1  UAT-ready system</c:v>
              </c:pt>
              <c:pt idx="17">
                <c:v>1.4.CR3  Review final transformed content and provide sig...</c:v>
              </c:pt>
              <c:pt idx="18">
                <c:v>1.4.CR2  Provide UAT Feedback</c:v>
              </c:pt>
              <c:pt idx="19">
                <c:v>1.4.CR1  Conduct UAT</c:v>
              </c:pt>
              <c:pt idx="20">
                <c:v>1.4.3  Conduct KUT (Key User Training)</c:v>
              </c:pt>
              <c:pt idx="21">
                <c:v>1.4.2  Execute SIT (System Integration Testing)</c:v>
              </c:pt>
              <c:pt idx="22">
                <c:v>1.4.1  Complete content transformation and get sign-off</c:v>
              </c:pt>
              <c:pt idx="23">
                <c:v>1.4  SIT &amp; KUT</c:v>
              </c:pt>
              <c:pt idx="24">
                <c:v>1.3.M1  Full Migration Complete — UAT plan ready, data in...</c:v>
              </c:pt>
              <c:pt idx="25">
                <c:v>1.3.D2  UAT Plan</c:v>
              </c:pt>
              <c:pt idx="26">
                <c:v>1.3.D1  Content transformation progress report</c:v>
              </c:pt>
              <c:pt idx="27">
                <c:v>1.3.CR2  Confirm UAT Scope</c:v>
              </c:pt>
              <c:pt idx="28">
                <c:v>1.3.CR1  Review UAT Migration Results</c:v>
              </c:pt>
              <c:pt idx="29">
                <c:v>1.3.4  Prepare UAT plan and user stories</c:v>
              </c:pt>
              <c:pt idx="30">
                <c:v>1.3.3  Run data integrity checks</c:v>
              </c:pt>
              <c:pt idx="31">
                <c:v>1.3.2  Content Transformation — begin modifying content i...</c:v>
              </c:pt>
              <c:pt idx="32">
                <c:v>1.3.1  Execute migration to UAT environment</c:v>
              </c:pt>
              <c:pt idx="33">
                <c:v>1.3  Full Migration</c:v>
              </c:pt>
              <c:pt idx="34">
                <c:v>1.2.M1  Initial Migration Complete — SSO &amp; migration scri...</c:v>
              </c:pt>
              <c:pt idx="35">
                <c:v>1.2.D2  Initial migration plans</c:v>
              </c:pt>
              <c:pt idx="36">
                <c:v>1.2.D1  SSO integration setup complete</c:v>
              </c:pt>
              <c:pt idx="37">
                <c:v>1.2.3  Validate integration test endpoints</c:v>
              </c:pt>
              <c:pt idx="38">
                <c:v>1.2.2  Develop Initial Migration Script</c:v>
              </c:pt>
              <c:pt idx="39">
                <c:v>1.2.1  Set up SSO Authentication</c:v>
              </c:pt>
              <c:pt idx="40">
                <c:v>1.2  Initial Migration</c:v>
              </c:pt>
              <c:pt idx="41">
                <c:v>1.1.M1  Prep Phase Complete — Project plan finalized, env...</c:v>
              </c:pt>
              <c:pt idx="42">
                <c:v>1.1.CR1  Help in finalizing project goals, expectations, ...</c:v>
              </c:pt>
              <c:pt idx="43">
                <c:v>1.1.CD2  API access and credentials provided</c:v>
              </c:pt>
              <c:pt idx="44">
                <c:v>1.1.CD1  Signed-off project charter</c:v>
              </c:pt>
              <c:pt idx="45">
                <c:v>1.1.5  Set up UAT and Prod environments</c:v>
              </c:pt>
              <c:pt idx="46">
                <c:v>1.1.4  Prepare and finalize project plan</c:v>
              </c:pt>
              <c:pt idx="47">
                <c:v>1.1.3  Receive 3rd-party APIs from Client for integration</c:v>
              </c:pt>
              <c:pt idx="48">
                <c:v>1.1.2  Define key stakeholders and project governance</c:v>
              </c:pt>
              <c:pt idx="49">
                <c:v>1.1.1  Conduct kickoff meeting</c:v>
              </c:pt>
              <c:pt idx="50">
                <c:v>1.1  Prep Phase</c:v>
              </c:pt>
            </c:strLit>
          </c:cat>
          <c:val>
            <c:numLit>
              <c:formatCode>General</c:formatCode>
              <c:ptCount val="51"/>
              <c:pt idx="0">
                <c:v>1</c:v>
              </c:pt>
              <c:pt idx="1">
                <c:v>1</c:v>
              </c:pt>
              <c:pt idx="2">
                <c:v>3</c:v>
              </c:pt>
              <c:pt idx="3">
                <c:v>8</c:v>
              </c:pt>
              <c:pt idx="4">
                <c:v>10</c:v>
              </c:pt>
              <c:pt idx="5">
                <c:v>20</c:v>
              </c:pt>
              <c:pt idx="6">
                <c:v>1</c:v>
              </c:pt>
              <c:pt idx="7">
                <c:v>1</c:v>
              </c:pt>
              <c:pt idx="8">
                <c:v>2</c:v>
              </c:pt>
              <c:pt idx="9">
                <c:v>2</c:v>
              </c:pt>
              <c:pt idx="10">
                <c:v>3</c:v>
              </c:pt>
              <c:pt idx="11">
                <c:v>5</c:v>
              </c:pt>
              <c:pt idx="12">
                <c:v>5</c:v>
              </c:pt>
              <c:pt idx="13">
                <c:v>10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5</c:v>
              </c:pt>
              <c:pt idx="18">
                <c:v>3</c:v>
              </c:pt>
              <c:pt idx="19">
                <c:v>5</c:v>
              </c:pt>
              <c:pt idx="20">
                <c:v>3</c:v>
              </c:pt>
              <c:pt idx="21">
                <c:v>6</c:v>
              </c:pt>
              <c:pt idx="22">
                <c:v>5</c:v>
              </c:pt>
              <c:pt idx="23">
                <c:v>10</c:v>
              </c:pt>
              <c:pt idx="24">
                <c:v>1</c:v>
              </c:pt>
              <c:pt idx="25">
                <c:v>1</c:v>
              </c:pt>
              <c:pt idx="26">
                <c:v>1</c:v>
              </c:pt>
              <c:pt idx="27">
                <c:v>2</c:v>
              </c:pt>
              <c:pt idx="28">
                <c:v>2</c:v>
              </c:pt>
              <c:pt idx="29">
                <c:v>4</c:v>
              </c:pt>
              <c:pt idx="30">
                <c:v>2</c:v>
              </c:pt>
              <c:pt idx="31">
                <c:v>5</c:v>
              </c:pt>
              <c:pt idx="32">
                <c:v>3</c:v>
              </c:pt>
              <c:pt idx="33">
                <c:v>5</c:v>
              </c:pt>
              <c:pt idx="34">
                <c:v>1</c:v>
              </c:pt>
              <c:pt idx="35">
                <c:v>1</c:v>
              </c:pt>
              <c:pt idx="36">
                <c:v>1</c:v>
              </c:pt>
              <c:pt idx="37">
                <c:v>3</c:v>
              </c:pt>
              <c:pt idx="38">
                <c:v>4</c:v>
              </c:pt>
              <c:pt idx="39">
                <c:v>3</c:v>
              </c:pt>
              <c:pt idx="40">
                <c:v>5</c:v>
              </c:pt>
              <c:pt idx="41">
                <c:v>1</c:v>
              </c:pt>
              <c:pt idx="42">
                <c:v>5</c:v>
              </c:pt>
              <c:pt idx="43">
                <c:v>5</c:v>
              </c:pt>
              <c:pt idx="44">
                <c:v>3</c:v>
              </c:pt>
              <c:pt idx="45">
                <c:v>6</c:v>
              </c:pt>
              <c:pt idx="46">
                <c:v>6</c:v>
              </c:pt>
              <c:pt idx="47">
                <c:v>5</c:v>
              </c:pt>
              <c:pt idx="48">
                <c:v>3</c:v>
              </c:pt>
              <c:pt idx="49">
                <c:v>2</c:v>
              </c:pt>
              <c:pt idx="50">
                <c:v>10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1F4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DAA-0F49-AF90-1DF11BD1E5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700">
                <a:solidFill>
                  <a:srgbClr val="333333"/>
                </a:solidFill>
                <a:latin typeface="Segoe U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solidFill>
                      <a:srgbClr val="1F4E79"/>
                    </a:solidFill>
                    <a:latin typeface="Segoe UI"/>
                  </a:defRPr>
                </a:pPr>
                <a:r>
                  <a:rPr lang="en-US" sz="1000" dirty="0"/>
                  <a:t>Working Days from Project Start (Apr 13, 2026)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endParaRPr lang="en-US"/>
          </a:p>
        </c:txPr>
        <c:crossAx val="1"/>
        <c:crosses val="max"/>
        <c:crossBetween val="between"/>
        <c:majorUnit val="5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654AB-016F-E49E-D63B-03C882438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4E8C3-150B-0796-1CAC-6B02101F0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4D006-290C-9BCB-CB9E-3ECD2F17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2D59C-9595-BBE9-6830-CF0F7099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8819B-B79A-8F52-82FC-05B7E4E0D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7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433C-CBB6-E130-C155-459C3708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48E18-529E-2688-DF18-D189F2806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91EDE-C927-98C9-7C90-74F56CF2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2809E-5116-8CA0-A147-D87CF3070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585DC-40E0-B86C-9EFF-4D126419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7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95FD-350F-9530-9C44-3C9E2F92A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8899C-12F3-FAD1-FB6B-3ED9340E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99D54-2300-99FF-FD7A-28126E7E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68865-BC82-E1CA-8CC6-13810F5C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D4F92-A6A2-323A-0C7B-4102D175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6470-9726-7EFF-EE9D-C3ABA0EB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84FC6-E202-2147-47EE-D2FC325E8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821F0-0003-9D98-73E8-E46A4E11C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A51F3-ECF6-B63D-3AA5-61BC7A79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53056-F031-BAF6-DFEA-DD1C4EDD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EAE85-A647-3D6E-CAE7-2B4079EB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74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2B83-B7EC-CDCF-6E5B-5F5DC2B1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3AB7E-A6AE-6E0A-AA6D-D7B84C50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77FEE-F9EC-5CE0-917B-C7E48360C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27035-BECE-69E9-7C19-39227BA88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EAFD14-A5DC-6A5F-6133-EDB0BC12F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36BABC-B79E-7D6E-7A29-4C63C33FA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D804C-906A-B7D8-FBD5-58999EB6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2C4D3-A244-01F3-50F1-AC14803D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7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F8A7-1CE8-CECF-2F9A-5811D3F7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682954-1664-50C4-B9EF-9A534C71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02B07-7D54-5D84-03F4-5107FE7EC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AC2F4-C66B-85FB-BE6C-398DCCF2B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29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CD0B2-16A4-AAB3-2CC6-CF16D199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B9644-350E-32BF-14B2-A4B9A77DE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63D24-B9CE-0683-AC89-DF2E2039E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08329-DCF1-45DB-1799-2C268D7D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BBE0B-DA4A-9D05-E854-59375652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E3C1C-7270-43D0-185A-00A4BE4F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6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433F-38DD-F913-2888-8779F07C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6BBD2-8B41-2262-FCBC-FB3E29310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29540-035B-3859-D5EB-6346135D9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AB53E-F627-8E94-0E3F-6E757BD79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14694-61ED-E360-6FF1-89BB9E5C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7FBA3-D14B-FEAE-4E12-14E6E2D0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76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CD39D-46CD-28C3-3A24-2788FBF1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85A0A-AC10-0FB6-5291-5D0EA18EE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2C35D-F3D5-5290-327B-AE9EB066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5D234-919B-3190-6A1C-BDD4F47F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019D7-0BA1-3463-792D-FBEE28A5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66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1FF76-A203-D27F-877B-D7A207395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0B466-8ED3-68E8-1273-39EE28CDA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3106E-23DE-BA44-7B0F-F8D56BB3D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C8C5D-223D-7532-C982-51D90905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AAD7A-75EC-E8D7-13A1-43D8A80E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8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829AD3-4DC3-5ABC-1144-41CD84553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24C32-7103-9859-3CEC-903F56E2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97F1B-5B04-AC71-82BB-7818EC5C0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80953-8948-354F-81F7-0D0A8103E2C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9CD45-6DB5-5955-E4A1-8DADE1BC6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73A50-3E5C-3CD1-0E39-6BBD43540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55D98-63D2-1B43-82F1-2E8A5BC225AE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TopAccent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BottomAccent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0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E7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585A-1D26-A3AA-2298-0ECCCAC110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3200" b="1" dirty="0">
                <a:solidFill>
                  <a:srgbClr val="1F4E79"/>
                </a:solidFill>
                <a:latin typeface="Segoe UI Semibold"/>
              </a:rPr>
              <a:t>WES Project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21B03-05FB-9B3B-C2E3-C034B74FC8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Phase 1: Migration |  Phase 2: Integration (Post Go-Live)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1F4E79"/>
                </a:solidFill>
                <a:latin typeface="Segoe UI Semibold"/>
              </a:rPr>
              <a:t>Apr 13 – Jul 3, 2026  |  60 Working Days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DDA23-3041-A746-B5DC-27EF1F58E93E}"/>
              </a:ext>
            </a:extLst>
          </p:cNvPr>
          <p:cNvSpPr txBox="1"/>
          <p:nvPr/>
        </p:nvSpPr>
        <p:spPr>
          <a:xfrm>
            <a:off x="838200" y="5257800"/>
            <a:ext cx="105156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dirty="0">
                <a:solidFill>
                  <a:srgbClr val="C00000"/>
                </a:solidFill>
                <a:latin typeface="Segoe UI"/>
                <a:cs typeface="Segoe UI"/>
              </a:rPr>
              <a:t>⚠ DISCLAIMER: This timeline is tentative and subject to change. Dates may shift based on scope changes, API/credential availability from WES, content transformation complexity, defect resolution timelines, resource availability (WES or Knowmax), or external integration dependencies. Commercials may also change based on final scope.</a:t>
            </a:r>
          </a:p>
        </p:txBody>
      </p:sp>
    </p:spTree>
    <p:extLst>
      <p:ext uri="{BB962C8B-B14F-4D97-AF65-F5344CB8AC3E}">
        <p14:creationId xmlns:p14="http://schemas.microsoft.com/office/powerpoint/2010/main" val="1737102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F1D0-1262-A3B8-4A95-24C6F9F7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1F4E79"/>
                </a:solidFill>
                <a:latin typeface="Segoe UI Semibold"/>
              </a:rPr>
              <a:t>Overview &amp; How to Read the WBS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98444-900F-C44B-A271-517C84B7482B}"/>
              </a:ext>
            </a:extLst>
          </p:cNvPr>
          <p:cNvSpPr txBox="1"/>
          <p:nvPr/>
        </p:nvSpPr>
        <p:spPr>
          <a:xfrm>
            <a:off x="838200" y="1778000"/>
            <a:ext cx="10515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Segoe UI"/>
                <a:cs typeface="Segoe UI"/>
              </a:rPr>
              <a:t>This WBS breaks down the WES Project Plan into a structured, trackable format across 2 phases, 6 sprints, and 60 working days (Apr 13 – Jul 3, 2026). Every task, deliverable, client obligation, milestone, risk, and assumption from the source project plan is captured.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356243-1F2C-3043-949E-36386AEF2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390164"/>
              </p:ext>
            </p:extLst>
          </p:nvPr>
        </p:nvGraphicFramePr>
        <p:xfrm>
          <a:off x="838200" y="2667000"/>
          <a:ext cx="10515600" cy="368300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3756338042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1866555479"/>
                    </a:ext>
                  </a:extLst>
                </a:gridCol>
              </a:tblGrid>
              <a:tr h="306917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Column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Purpose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087717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WBS #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Hierarchical numbering. Suffixes: KD, WR, D, M, A, R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4264018288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Phase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Phase 1 (Migration) and Phase 2 (Integration Post Go-Live)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10717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Sprint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Sprint grouping with week range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869570707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Type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Task, Summary, Milestone, Knowmax Deliverable, Deliverable, WES Requirement, Assumption, or Risk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208427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Task/Deliverable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Description of the work item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895199746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Owner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WES, Knowmax, WES / Knowmax, or Knowmax / WES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300627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Start/End Date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Working-day dates (Mon–Fri only)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853231833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Duration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NETWORKDAYS formula – working days only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57842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Not Started, In Progress, Completed, On Hold, Blocked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603327918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Dependencies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WBS # of prerequisite items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86992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Notes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Assumptions, conditions, context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974687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872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C553-FB0A-0BAB-DCFB-0DE572BE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1F4E79"/>
                </a:solidFill>
                <a:latin typeface="Segoe UI Semibold"/>
              </a:rPr>
              <a:t>Row Types &amp; Color Coding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B802408-013A-1A43-B3A6-CA1F70334CB9}"/>
              </a:ext>
            </a:extLst>
          </p:cNvPr>
          <p:cNvSpPr/>
          <p:nvPr/>
        </p:nvSpPr>
        <p:spPr>
          <a:xfrm>
            <a:off x="457200" y="1981200"/>
            <a:ext cx="304800" cy="3048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275A4B-0290-0842-8DD2-699634B19AE5}"/>
              </a:ext>
            </a:extLst>
          </p:cNvPr>
          <p:cNvSpPr txBox="1"/>
          <p:nvPr/>
        </p:nvSpPr>
        <p:spPr>
          <a:xfrm>
            <a:off x="965200" y="1905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F4E79"/>
                </a:solidFill>
                <a:latin typeface="Segoe UI Semibold"/>
                <a:cs typeface="Segoe UI Semibold"/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30BFA-C1AE-EC4D-854C-20C0181A0181}"/>
              </a:ext>
            </a:extLst>
          </p:cNvPr>
          <p:cNvSpPr txBox="1"/>
          <p:nvPr/>
        </p:nvSpPr>
        <p:spPr>
          <a:xfrm>
            <a:off x="965200" y="2260600"/>
            <a:ext cx="482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Segoe UI"/>
                <a:cs typeface="Segoe UI"/>
              </a:rPr>
              <a:t>Sprint-level summary row showing total date range and duration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B5FDCF-89F2-6644-A35C-C5714FA93614}"/>
              </a:ext>
            </a:extLst>
          </p:cNvPr>
          <p:cNvSpPr/>
          <p:nvPr/>
        </p:nvSpPr>
        <p:spPr>
          <a:xfrm>
            <a:off x="457200" y="2997200"/>
            <a:ext cx="304800" cy="3048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0E30D-E7AD-494F-9B37-54EEE231C55F}"/>
              </a:ext>
            </a:extLst>
          </p:cNvPr>
          <p:cNvSpPr txBox="1"/>
          <p:nvPr/>
        </p:nvSpPr>
        <p:spPr>
          <a:xfrm>
            <a:off x="965200" y="2921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4472C4"/>
                </a:solidFill>
                <a:latin typeface="Segoe UI Semibold"/>
                <a:cs typeface="Segoe UI Semibold"/>
              </a:rPr>
              <a:t>Task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159708-8384-4F4A-BA46-0A2FA6E86AE9}"/>
              </a:ext>
            </a:extLst>
          </p:cNvPr>
          <p:cNvSpPr txBox="1"/>
          <p:nvPr/>
        </p:nvSpPr>
        <p:spPr>
          <a:xfrm>
            <a:off x="965200" y="3276600"/>
            <a:ext cx="482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Segoe UI"/>
                <a:cs typeface="Segoe UI"/>
              </a:rPr>
              <a:t>Executable work items performed by Knowmax, WES, or both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A5A15EC-4594-7A44-99C8-BB4D48EB4895}"/>
              </a:ext>
            </a:extLst>
          </p:cNvPr>
          <p:cNvSpPr/>
          <p:nvPr/>
        </p:nvSpPr>
        <p:spPr>
          <a:xfrm>
            <a:off x="457200" y="4013200"/>
            <a:ext cx="304800" cy="304800"/>
          </a:xfrm>
          <a:prstGeom prst="round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C3C9BE-4C3A-6444-933B-8D0D86104154}"/>
              </a:ext>
            </a:extLst>
          </p:cNvPr>
          <p:cNvSpPr txBox="1"/>
          <p:nvPr/>
        </p:nvSpPr>
        <p:spPr>
          <a:xfrm>
            <a:off x="965200" y="3937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C000"/>
                </a:solidFill>
                <a:latin typeface="Segoe UI Semibold"/>
                <a:cs typeface="Segoe UI Semibold"/>
              </a:rPr>
              <a:t>◆ Milestone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F777F-B894-E146-825C-88CDEBB3AFFC}"/>
              </a:ext>
            </a:extLst>
          </p:cNvPr>
          <p:cNvSpPr txBox="1"/>
          <p:nvPr/>
        </p:nvSpPr>
        <p:spPr>
          <a:xfrm>
            <a:off x="965200" y="4292600"/>
            <a:ext cx="482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Segoe UI"/>
                <a:cs typeface="Segoe UI"/>
              </a:rPr>
              <a:t>Checkpoint/gate with zero duration – go/no-go before next sprint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2EE9CF6-9B9F-EC41-AB9B-C35ED998208B}"/>
              </a:ext>
            </a:extLst>
          </p:cNvPr>
          <p:cNvSpPr/>
          <p:nvPr/>
        </p:nvSpPr>
        <p:spPr>
          <a:xfrm>
            <a:off x="457200" y="5029200"/>
            <a:ext cx="304800" cy="304800"/>
          </a:xfrm>
          <a:prstGeom prst="roundRect">
            <a:avLst/>
          </a:prstGeom>
          <a:solidFill>
            <a:srgbClr val="5482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D39C79-1A8A-B543-833D-BBEC26A9EE83}"/>
              </a:ext>
            </a:extLst>
          </p:cNvPr>
          <p:cNvSpPr txBox="1"/>
          <p:nvPr/>
        </p:nvSpPr>
        <p:spPr>
          <a:xfrm>
            <a:off x="965200" y="4953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48235"/>
                </a:solidFill>
                <a:latin typeface="Segoe UI Semibold"/>
                <a:cs typeface="Segoe UI Semibold"/>
              </a:rPr>
              <a:t>Knowmax Deliverable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C16145-D33E-5C4C-AA45-EB38C14AEB44}"/>
              </a:ext>
            </a:extLst>
          </p:cNvPr>
          <p:cNvSpPr txBox="1"/>
          <p:nvPr/>
        </p:nvSpPr>
        <p:spPr>
          <a:xfrm>
            <a:off x="965200" y="5308600"/>
            <a:ext cx="482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  <a:latin typeface="Segoe UI"/>
                <a:cs typeface="Segoe UI"/>
              </a:rPr>
              <a:t>Artifact Knowmax must provide to WES (e.g., SSO setup, Platform, UAT plan 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F10CA0-43DD-554C-A458-BC620A3ADC32}"/>
              </a:ext>
            </a:extLst>
          </p:cNvPr>
          <p:cNvSpPr/>
          <p:nvPr/>
        </p:nvSpPr>
        <p:spPr>
          <a:xfrm>
            <a:off x="6172200" y="1981200"/>
            <a:ext cx="304800" cy="304800"/>
          </a:xfrm>
          <a:prstGeom prst="round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CEE0FC-CE5F-F84D-99C0-2350C521CCC6}"/>
              </a:ext>
            </a:extLst>
          </p:cNvPr>
          <p:cNvSpPr txBox="1"/>
          <p:nvPr/>
        </p:nvSpPr>
        <p:spPr>
          <a:xfrm>
            <a:off x="6680200" y="1905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5B9BD5"/>
                </a:solidFill>
                <a:latin typeface="Segoe UI Semibold"/>
                <a:cs typeface="Segoe UI Semibold"/>
              </a:rPr>
              <a:t>Deliverable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3FD557-A8F5-F640-8BB2-A470DDD71C33}"/>
              </a:ext>
            </a:extLst>
          </p:cNvPr>
          <p:cNvSpPr txBox="1"/>
          <p:nvPr/>
        </p:nvSpPr>
        <p:spPr>
          <a:xfrm>
            <a:off x="6680200" y="2260600"/>
            <a:ext cx="482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Segoe UI"/>
                <a:cs typeface="Segoe UI"/>
              </a:rPr>
              <a:t>Output WES produces (e.g., SSO setup, UAT plan)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D1DED96-F9FD-C44D-B80B-FC818AED39B6}"/>
              </a:ext>
            </a:extLst>
          </p:cNvPr>
          <p:cNvSpPr/>
          <p:nvPr/>
        </p:nvSpPr>
        <p:spPr>
          <a:xfrm>
            <a:off x="6172200" y="2997200"/>
            <a:ext cx="304800" cy="304800"/>
          </a:xfrm>
          <a:prstGeom prst="round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CA4B8D-54CD-5B4A-9EC0-3D9C926F1F7B}"/>
              </a:ext>
            </a:extLst>
          </p:cNvPr>
          <p:cNvSpPr txBox="1"/>
          <p:nvPr/>
        </p:nvSpPr>
        <p:spPr>
          <a:xfrm>
            <a:off x="6680200" y="2921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C00000"/>
                </a:solidFill>
                <a:latin typeface="Segoe UI Semibold"/>
                <a:cs typeface="Segoe UI Semibold"/>
              </a:rPr>
              <a:t>WES Requirement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BCDB8D-545F-2045-9A9C-A017528C82C6}"/>
              </a:ext>
            </a:extLst>
          </p:cNvPr>
          <p:cNvSpPr txBox="1"/>
          <p:nvPr/>
        </p:nvSpPr>
        <p:spPr>
          <a:xfrm>
            <a:off x="6680200" y="3276600"/>
            <a:ext cx="482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Segoe UI"/>
                <a:cs typeface="Segoe UI"/>
              </a:rPr>
              <a:t>Action WES must take (e.g., conduct UAT, provide APIs, review content, provide feedback)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1FF8AA9-B4B4-5640-8114-0B07F4AB21BC}"/>
              </a:ext>
            </a:extLst>
          </p:cNvPr>
          <p:cNvSpPr/>
          <p:nvPr/>
        </p:nvSpPr>
        <p:spPr>
          <a:xfrm>
            <a:off x="6172200" y="4013200"/>
            <a:ext cx="304800" cy="304800"/>
          </a:xfrm>
          <a:prstGeom prst="roundRect">
            <a:avLst/>
          </a:prstGeom>
          <a:solidFill>
            <a:srgbClr val="6A1B9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D7F6BC-A6AF-4E44-BA75-ACE15697CE2C}"/>
              </a:ext>
            </a:extLst>
          </p:cNvPr>
          <p:cNvSpPr txBox="1"/>
          <p:nvPr/>
        </p:nvSpPr>
        <p:spPr>
          <a:xfrm>
            <a:off x="6680200" y="3937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6A1B9A"/>
                </a:solidFill>
                <a:latin typeface="Segoe UI Semibold"/>
                <a:cs typeface="Segoe UI Semibold"/>
              </a:rPr>
              <a:t>Assumption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52640D-87C5-224C-91AB-A794EEF65077}"/>
              </a:ext>
            </a:extLst>
          </p:cNvPr>
          <p:cNvSpPr txBox="1"/>
          <p:nvPr/>
        </p:nvSpPr>
        <p:spPr>
          <a:xfrm>
            <a:off x="6680200" y="4292600"/>
            <a:ext cx="482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Segoe UI"/>
                <a:cs typeface="Segoe UI"/>
              </a:rPr>
              <a:t>Stated assumption the plan depends 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63A4ED1-FC55-D24B-AB40-1578834DCCE0}"/>
              </a:ext>
            </a:extLst>
          </p:cNvPr>
          <p:cNvSpPr/>
          <p:nvPr/>
        </p:nvSpPr>
        <p:spPr>
          <a:xfrm>
            <a:off x="6172200" y="5029200"/>
            <a:ext cx="304800" cy="304800"/>
          </a:xfrm>
          <a:prstGeom prst="roundRect">
            <a:avLst/>
          </a:prstGeom>
          <a:solidFill>
            <a:srgbClr val="BF36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208D5B-0737-2E46-B039-F87126B60466}"/>
              </a:ext>
            </a:extLst>
          </p:cNvPr>
          <p:cNvSpPr txBox="1"/>
          <p:nvPr/>
        </p:nvSpPr>
        <p:spPr>
          <a:xfrm>
            <a:off x="6680200" y="4953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BF360C"/>
                </a:solidFill>
                <a:latin typeface="Segoe UI Semibold"/>
                <a:cs typeface="Segoe UI Semibold"/>
              </a:rPr>
              <a:t>Risk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BEA1FE-5755-C844-9FAE-E6E1814FBC13}"/>
              </a:ext>
            </a:extLst>
          </p:cNvPr>
          <p:cNvSpPr txBox="1"/>
          <p:nvPr/>
        </p:nvSpPr>
        <p:spPr>
          <a:xfrm>
            <a:off x="6680200" y="5308600"/>
            <a:ext cx="482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Segoe UI"/>
                <a:cs typeface="Segoe UI"/>
              </a:rPr>
              <a:t>Identified risk to monitor and escalate</a:t>
            </a:r>
          </a:p>
        </p:txBody>
      </p:sp>
    </p:spTree>
    <p:extLst>
      <p:ext uri="{BB962C8B-B14F-4D97-AF65-F5344CB8AC3E}">
        <p14:creationId xmlns:p14="http://schemas.microsoft.com/office/powerpoint/2010/main" val="21132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9C849-9D70-89EB-EBD1-62006C327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1F4E79"/>
                </a:solidFill>
                <a:latin typeface="Segoe UI Semibold"/>
              </a:rPr>
              <a:t>Sprint Timeline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68C64C-CD83-1F43-8504-1095769DA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704209"/>
              </p:ext>
            </p:extLst>
          </p:nvPr>
        </p:nvGraphicFramePr>
        <p:xfrm>
          <a:off x="838200" y="1905000"/>
          <a:ext cx="10515600" cy="431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606343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790181217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11792532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30684125"/>
                    </a:ext>
                  </a:extLst>
                </a:gridCol>
                <a:gridCol w="5054600">
                  <a:extLst>
                    <a:ext uri="{9D8B030D-6E8A-4147-A177-3AD203B41FA5}">
                      <a16:colId xmlns:a16="http://schemas.microsoft.com/office/drawing/2014/main" val="628548546"/>
                    </a:ext>
                  </a:extLst>
                </a:gridCol>
              </a:tblGrid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Sprint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Weeks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Dates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Days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Focus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089771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Sprint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Wk 0–2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13 – Apr 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Prep: kickoff, governance, APIs,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26153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Sprint 1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Wk 3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27 – May 1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Initial Migration: SSO, migration script, endpoint validation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66870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Sprint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Wk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4 – May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Full Migration: UAT migration, content transformation, data integrity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371007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Sprint 3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Wk 5–6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11 – May 22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SIT &amp; KUT: system integration testing, key user training, UAT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137796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Sprint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Wk 7–8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25 – Jun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Final Validation: UAT with users, defect resolution, go-live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733569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Sprint 5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Wk 9–12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Jun 8 – Jul 3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Phase 2 Integration: post go-live workflows, testing, deployment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178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83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01EC-355E-5926-3740-1A96AE7F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1F4E79"/>
                </a:solidFill>
                <a:latin typeface="Segoe UI Semibold"/>
              </a:rPr>
              <a:t>Key Milestones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56D2CD-A9D3-CF4E-847E-5DAF39ECF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196797"/>
              </p:ext>
            </p:extLst>
          </p:nvPr>
        </p:nvGraphicFramePr>
        <p:xfrm>
          <a:off x="838200" y="1905000"/>
          <a:ext cx="10515600" cy="431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1426605258"/>
                    </a:ext>
                  </a:extLst>
                </a:gridCol>
                <a:gridCol w="3111500">
                  <a:extLst>
                    <a:ext uri="{9D8B030D-6E8A-4147-A177-3AD203B41FA5}">
                      <a16:colId xmlns:a16="http://schemas.microsoft.com/office/drawing/2014/main" val="16034785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665057205"/>
                    </a:ext>
                  </a:extLst>
                </a:gridCol>
                <a:gridCol w="4483100">
                  <a:extLst>
                    <a:ext uri="{9D8B030D-6E8A-4147-A177-3AD203B41FA5}">
                      <a16:colId xmlns:a16="http://schemas.microsoft.com/office/drawing/2014/main" val="3822118284"/>
                    </a:ext>
                  </a:extLst>
                </a:gridCol>
              </a:tblGrid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WBS #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Date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Detail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837135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1.1.M1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Prep Phase 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24,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Project plan finalized, environments ready. Gate to Sprint 1.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034917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1.2.M1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Initial Migration Complete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1, 2026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SSO set up, migration script ready. Gate to Full Migration.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159941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1.3.M1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Full Migration 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UAT plan ready, data integrity verified. Gate to SIT &amp; KUT.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209976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1.4.M1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SIT &amp; KUT Complete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System tested, users trained, content signed off. Gate to Final Validation.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489800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1.5.M1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Phase 1 Complete – Go-Live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Jun 5, 2026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All defects resolved, delta data migrated, stakeholder sign-off.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002189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2.1.M1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Project Complete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Jul 3, 2026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All integration workflows deployed. Full project close-out.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15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09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64A3-C435-0CCB-BAB5-B3C6EB67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1F4E79"/>
                </a:solidFill>
                <a:latin typeface="Segoe UI Semibold"/>
              </a:rPr>
              <a:t>WES Project Plan — Gantt Chart</a:t>
            </a:r>
          </a:p>
        </p:txBody>
      </p:sp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7262661"/>
              </p:ext>
            </p:extLst>
          </p:nvPr>
        </p:nvGraphicFramePr>
        <p:xfrm>
          <a:off x="457200" y="1727200"/>
          <a:ext cx="11277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6429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4F2C-A7D5-9966-3EB0-A43ECC83D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>
                <a:solidFill>
                  <a:srgbClr val="1F4E79"/>
                </a:solidFill>
                <a:latin typeface="Segoe UI Semibold"/>
              </a:rPr>
              <a:t>WBS Detail — Sprint 0–1: Prep &amp; Initial Migration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A2A255-62E8-0043-BF0E-0A6D13B5A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510323"/>
              </p:ext>
            </p:extLst>
          </p:nvPr>
        </p:nvGraphicFramePr>
        <p:xfrm>
          <a:off x="254000" y="1714500"/>
          <a:ext cx="11176000" cy="50292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1646587575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382255290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108603269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5849461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423276082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83247399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94235406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WBS #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Type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Task / Deliverable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Owner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Start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End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Days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04986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1.1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Summary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Prep Phase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>
                        <a:solidFill>
                          <a:srgbClr val="1F4E79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Apr 13,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Apr 24,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54583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1.1.1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Conduct kickoff meeting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WES / 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13,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14,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3253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1.1.2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Define key stakeholders and project governance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WES / 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13,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15,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52942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1.1.3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Receive 3rd-party APIs from WES for integration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13,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17,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09362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1.1.4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Prepare and finalize project plan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15,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22,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9305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1.1.5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Set up UAT and Prod environments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17,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24,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18632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1.1.CD1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Knowmax Deliverable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Signed-off project charter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Apr 22,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Apr 24,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3755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1.1.CD2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Knowmax Deliverable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API access and credentials provided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Apr 13,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Apr 17,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75623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36249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1.1.CR1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 Requirement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Help in finalizing project goals, expectations, and scope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Apr 13,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Apr 17,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6538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1.1.M1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◆ Milestone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Prep Phase Complete, Project plan finalized, environments ready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7F6000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Apr 24,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Apr 24,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36696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1.2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Summary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Initial Migration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>
                        <a:solidFill>
                          <a:srgbClr val="1F4E79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Apr 27,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May 1,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91704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1.2.1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Set up SSO Authentication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27,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29,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73334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1.2.2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Develop Initial Migration Script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27,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30,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95325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1.2.3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Validate integration test endpoints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Apr 29,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1,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3758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1.2.D1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Deliverable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SSO integration setup complete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1,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1,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60274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1.2.D2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Deliverable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Initial migration plans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1,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1,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10523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1.2.M1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◆ Milestone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Initial Migration Complete, SSO &amp; migration script ready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7F6000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May 1,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May 1,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96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81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BB37-66E8-69B6-777A-48DE3AB82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>
                <a:solidFill>
                  <a:srgbClr val="1F4E79"/>
                </a:solidFill>
                <a:latin typeface="Segoe UI Semibold"/>
              </a:rPr>
              <a:t>WBS Detail — Sprint 2–3: Full Migration &amp; SIT/KUT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854214-599F-F242-AD74-730809E09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238371"/>
              </p:ext>
            </p:extLst>
          </p:nvPr>
        </p:nvGraphicFramePr>
        <p:xfrm>
          <a:off x="254000" y="1714500"/>
          <a:ext cx="11176000" cy="49657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3351844406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3074129094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26846772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361508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427447179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69309334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4055829114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WBS #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Type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Task / Deliverable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Owner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Start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End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Days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22482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1.3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Summary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Full Migration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solidFill>
                          <a:srgbClr val="1F4E79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May 4,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287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1.3.1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Execute migration to UAT environment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4,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6,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41030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1.3.2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Content Transformation (begin modifying content in Knowmax)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 / WES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4,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98997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1.3.3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Run data integrity checks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6,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7,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73927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1.3.4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Prepare UAT plan and user stories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5,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5904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1.3.CR1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 Requirement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Review UAT Migration Results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May 7,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21317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1.3.CR2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 Requirement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Confirm UAT Scope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May 7,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42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1.3.D1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Deliverable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Content transformation progress report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99687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1.3.D2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Deliverable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UAT Plan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21575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6A1B9A"/>
                          </a:solidFill>
                          <a:latin typeface="Segoe UI"/>
                          <a:cs typeface="Segoe UI"/>
                        </a:rPr>
                        <a:t>1.3.A1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6A1B9A"/>
                          </a:solidFill>
                          <a:latin typeface="Segoe UI"/>
                          <a:cs typeface="Segoe UI"/>
                        </a:rPr>
                        <a:t>Assumption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6A1B9A"/>
                          </a:solidFill>
                          <a:latin typeface="Segoe UI"/>
                          <a:cs typeface="Segoe UI"/>
                        </a:rPr>
                        <a:t>Content Transformation Team starts Day 1 of this sprint (if required)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solidFill>
                          <a:srgbClr val="6A1B9A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solidFill>
                          <a:srgbClr val="6A1B9A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solidFill>
                          <a:srgbClr val="6A1B9A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solidFill>
                          <a:srgbClr val="6A1B9A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96484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BF360C"/>
                          </a:solidFill>
                          <a:latin typeface="Segoe UI"/>
                          <a:cs typeface="Segoe UI"/>
                        </a:rPr>
                        <a:t>1.3.R1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BF360C"/>
                          </a:solidFill>
                          <a:latin typeface="Segoe UI"/>
                          <a:cs typeface="Segoe UI"/>
                        </a:rPr>
                        <a:t>Risk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BF360C"/>
                          </a:solidFill>
                          <a:latin typeface="Segoe UI"/>
                          <a:cs typeface="Segoe UI"/>
                        </a:rPr>
                        <a:t>Commercials may change based on Scope Finalization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27179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1.3.M1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◆ Milestone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Full Migration Complete — UAT plan ready, data integrity verified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solidFill>
                          <a:srgbClr val="7F6000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May 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90076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1.4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Summary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SIT &amp; KUT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solidFill>
                          <a:srgbClr val="1F4E79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May 11,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03823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1.4.1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Complete content transformation and get sign-off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 / WES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11,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15,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77717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1.4.2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Execute SIT (System Integration Testing)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13,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20,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09065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1.4.3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Conduct KUT (Key User Training)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 / WES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20,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15701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1.4.CR1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 Requirement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Conduct UAT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May 18,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67904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1.4.CR2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 Requirement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Provide UAT Feedback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May 20,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26876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1.4.CR3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 Requirement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Review final transformed content and provide sign-off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May 18,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98042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1.4.D1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Deliverable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UAT-ready system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6122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1.4.D2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Deliverable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All transformed content verified and signed off by client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68324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1.4.M1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◆ Milestone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SIT &amp; KUT Complete — UAT-ready, content signed off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solidFill>
                          <a:srgbClr val="7F6000"/>
                        </a:solidFill>
                        <a:latin typeface="Segoe UI"/>
                        <a:cs typeface="Segoe UI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May 22, 2026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010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306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61D3-AEBC-2889-36DE-898F3997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>
                <a:solidFill>
                  <a:srgbClr val="1F4E79"/>
                </a:solidFill>
                <a:latin typeface="Segoe UI Semibold"/>
              </a:rPr>
              <a:t>WBS Detail — Sprint 4–5: Final Validation &amp; Phase 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A86D86-09A0-A147-A816-933ECE2D0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139138"/>
              </p:ext>
            </p:extLst>
          </p:nvPr>
        </p:nvGraphicFramePr>
        <p:xfrm>
          <a:off x="254000" y="1714500"/>
          <a:ext cx="11176000" cy="50292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1193238384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44106469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4893976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0869451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76788827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66045733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60977465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WBS #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Type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Task / Deliverable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Owner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Start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End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Days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12224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1.5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Summary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Final Validation &amp; Deployment Prep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>
                        <a:solidFill>
                          <a:srgbClr val="1F4E79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May 25,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Jun 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56626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1.5.1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Execute UAT with business users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 / WES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25,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29,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7132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1.5.2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Capture feedback, resolve defects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May 28,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Jun 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73298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1.5.3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Migrate delta data &amp; deploy final content + integration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Jun 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Jun 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35698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1.5.CR1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 Requirement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Participate in Handover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Jun 4,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Jun 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86516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1.5.CR2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 Requirement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Review Documentation (if applicable)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WES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Jun 4,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Jun 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C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68316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1.5.D1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Deliverable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Final Project Report &amp; Stakeholder Sign-Off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Knowmax / WES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Jun 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Jun 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5294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BF360C"/>
                          </a:solidFill>
                          <a:latin typeface="Segoe UI"/>
                          <a:cs typeface="Segoe UI"/>
                        </a:rPr>
                        <a:t>1.5.R1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BF360C"/>
                          </a:solidFill>
                          <a:latin typeface="Segoe UI"/>
                          <a:cs typeface="Segoe UI"/>
                        </a:rPr>
                        <a:t>Risk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BF360C"/>
                          </a:solidFill>
                          <a:latin typeface="Segoe UI"/>
                          <a:cs typeface="Segoe UI"/>
                        </a:rPr>
                        <a:t>Commercials may change based on Scope Finalization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65041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1.5.M1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◆ Milestone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Phase 1 Complete : Go-Live, stakeholder sign-off received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7F6000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Jun 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Jun 5,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40838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2.1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Summary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Integration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>
                        <a:solidFill>
                          <a:srgbClr val="1F4E79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Jun 8,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Jul 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F4E79"/>
                          </a:solidFill>
                          <a:latin typeface="Segoe UI"/>
                          <a:cs typeface="Segoe UI"/>
                        </a:rPr>
                        <a:t>20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06680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2.1.1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Develop integration workflows post go-live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Jun 8,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Jun 19,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1159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2.1.2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Execute integration testing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Jun 22,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Jul 1,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8729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2.1.3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Task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Deploy integration as a separate milestone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Knowmax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Jul 1,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Jul 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04295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2.1.D1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Deliverable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Integration deployed &amp; operational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Knowmax / WES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Jul 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Jul 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E75B6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92968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6A1B9A"/>
                          </a:solidFill>
                          <a:latin typeface="Segoe UI"/>
                          <a:cs typeface="Segoe UI"/>
                        </a:rPr>
                        <a:t>2.1.A1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6A1B9A"/>
                          </a:solidFill>
                          <a:latin typeface="Segoe UI"/>
                          <a:cs typeface="Segoe UI"/>
                        </a:rPr>
                        <a:t>Assumption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6A1B9A"/>
                          </a:solidFill>
                          <a:latin typeface="Segoe UI"/>
                          <a:cs typeface="Segoe UI"/>
                        </a:rPr>
                        <a:t>Integration timeline is subject to change after requirement finalization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6A1B9A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6A1B9A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6A1B9A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6A1B9A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90695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BF360C"/>
                          </a:solidFill>
                          <a:latin typeface="Segoe UI"/>
                          <a:cs typeface="Segoe UI"/>
                        </a:rPr>
                        <a:t>2.1.R1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BF360C"/>
                          </a:solidFill>
                          <a:latin typeface="Segoe UI"/>
                          <a:cs typeface="Segoe UI"/>
                        </a:rPr>
                        <a:t>Risk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BF360C"/>
                          </a:solidFill>
                          <a:latin typeface="Segoe UI"/>
                          <a:cs typeface="Segoe UI"/>
                        </a:rPr>
                        <a:t>Commercials may change based on Scope Finalization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BF360C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58205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2.1.M1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◆ Milestone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Project Complete </a:t>
                      </a:r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: Integration </a:t>
                      </a:r>
                      <a:r>
                        <a:rPr lang="en-US" sz="900" dirty="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workflows deployed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rgbClr val="7F6000"/>
                        </a:solidFill>
                        <a:latin typeface="Segoe UI"/>
                        <a:cs typeface="Segoe U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Jul 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Jul 3, 2026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7F6000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84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40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D2EB-DFD2-E568-247B-DE32AC2F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1F4E79"/>
                </a:solidFill>
                <a:latin typeface="Segoe UI Semibold"/>
              </a:rPr>
              <a:t>How to Use &amp; Important Notes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971B0-4530-F245-9FFB-3871C7751A2D}"/>
              </a:ext>
            </a:extLst>
          </p:cNvPr>
          <p:cNvSpPr txBox="1"/>
          <p:nvPr/>
        </p:nvSpPr>
        <p:spPr>
          <a:xfrm>
            <a:off x="635000" y="1778000"/>
            <a:ext cx="5334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4E79"/>
                </a:solidFill>
                <a:latin typeface="Segoe UI Semibold"/>
              </a:rPr>
              <a:t>How to Use the WBS</a:t>
            </a:r>
          </a:p>
          <a:p>
            <a:pPr marL="228600" indent="-228600">
              <a:buFont typeface="Segoe UI Semibold"/>
              <a:buAutoNum type="arabicPeriod"/>
            </a:pPr>
            <a:r>
              <a:rPr lang="en-US" sz="1200" b="1" dirty="0">
                <a:solidFill>
                  <a:srgbClr val="1F4E79"/>
                </a:solidFill>
                <a:latin typeface="Segoe UI"/>
              </a:rPr>
              <a:t>Track progress</a:t>
            </a:r>
            <a:r>
              <a:rPr lang="en-US" sz="1200" dirty="0">
                <a:solidFill>
                  <a:srgbClr val="333333"/>
                </a:solidFill>
                <a:latin typeface="Segoe UI"/>
              </a:rPr>
              <a:t> — Update Status dropdown (col J). Green=Done, yellow=In Progress, red=Blocked.</a:t>
            </a:r>
          </a:p>
          <a:p>
            <a:pPr marL="228600" indent="-228600">
              <a:buFont typeface="Segoe UI Semibold"/>
              <a:buAutoNum type="arabicPeriod" startAt="2"/>
            </a:pPr>
            <a:r>
              <a:rPr lang="en-US" sz="1200" b="1" dirty="0">
                <a:solidFill>
                  <a:srgbClr val="1F4E79"/>
                </a:solidFill>
                <a:latin typeface="Segoe UI"/>
              </a:rPr>
              <a:t>Check dependencies</a:t>
            </a:r>
            <a:r>
              <a:rPr lang="en-US" sz="1200" dirty="0">
                <a:solidFill>
                  <a:srgbClr val="333333"/>
                </a:solidFill>
                <a:latin typeface="Segoe UI"/>
              </a:rPr>
              <a:t> — Verify dependencies (col K) are Completed before starting any task.</a:t>
            </a:r>
          </a:p>
          <a:p>
            <a:pPr marL="228600" indent="-228600">
              <a:buFont typeface="Segoe UI Semibold"/>
              <a:buAutoNum type="arabicPeriod" startAt="3"/>
            </a:pPr>
            <a:r>
              <a:rPr lang="en-US" sz="1200" b="1" dirty="0">
                <a:solidFill>
                  <a:srgbClr val="1F4E79"/>
                </a:solidFill>
                <a:latin typeface="Segoe UI"/>
              </a:rPr>
              <a:t>Monitor WES items</a:t>
            </a:r>
            <a:r>
              <a:rPr lang="en-US" sz="1200" dirty="0">
                <a:solidFill>
                  <a:srgbClr val="333333"/>
                </a:solidFill>
                <a:latin typeface="Segoe UI"/>
              </a:rPr>
              <a:t> — Filter by WES Requirement to track what WES needs to provide. Delays cascade to Knowmax.</a:t>
            </a:r>
          </a:p>
          <a:p>
            <a:pPr marL="228600" indent="-228600">
              <a:buFont typeface="Segoe UI Semibold"/>
              <a:buAutoNum type="arabicPeriod" startAt="4"/>
            </a:pPr>
            <a:r>
              <a:rPr lang="en-US" sz="1200" b="1" dirty="0">
                <a:solidFill>
                  <a:srgbClr val="1F4E79"/>
                </a:solidFill>
                <a:latin typeface="Segoe UI"/>
              </a:rPr>
              <a:t>Monitor Knowmax deliverables</a:t>
            </a:r>
            <a:r>
              <a:rPr lang="en-US" sz="1200" dirty="0">
                <a:solidFill>
                  <a:srgbClr val="333333"/>
                </a:solidFill>
                <a:latin typeface="Segoe UI"/>
              </a:rPr>
              <a:t> — Filter by Knowmax Deliverable to track artifacts owed. Late deliverables block WES actions.</a:t>
            </a:r>
          </a:p>
          <a:p>
            <a:pPr marL="228600" indent="-228600">
              <a:buFont typeface="Segoe UI Semibold"/>
              <a:buAutoNum type="arabicPeriod" startAt="5"/>
            </a:pPr>
            <a:r>
              <a:rPr lang="en-US" sz="1200" b="1" dirty="0">
                <a:solidFill>
                  <a:srgbClr val="1F4E79"/>
                </a:solidFill>
                <a:latin typeface="Segoe UI"/>
              </a:rPr>
              <a:t>Watch risks &amp; assumptions</a:t>
            </a:r>
            <a:r>
              <a:rPr lang="en-US" sz="1200" dirty="0">
                <a:solidFill>
                  <a:srgbClr val="333333"/>
                </a:solidFill>
                <a:latin typeface="Segoe UI"/>
              </a:rPr>
              <a:t> — Purple/orange rows flagged for attention. Escalate if they materialize.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64603-4C1B-CB48-B6C3-4FE5C820B23A}"/>
              </a:ext>
            </a:extLst>
          </p:cNvPr>
          <p:cNvSpPr txBox="1"/>
          <p:nvPr/>
        </p:nvSpPr>
        <p:spPr>
          <a:xfrm>
            <a:off x="6223000" y="1778000"/>
            <a:ext cx="5461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C00000"/>
                </a:solidFill>
                <a:latin typeface="Segoe UI Semibold"/>
              </a:rPr>
              <a:t>⚠ Important Notes</a:t>
            </a:r>
          </a:p>
          <a:p>
            <a:pPr>
              <a:buNone/>
            </a:pPr>
            <a:endParaRPr lang="en-US" sz="1600" b="1" dirty="0">
              <a:solidFill>
                <a:srgbClr val="C00000"/>
              </a:solidFill>
              <a:latin typeface="Segoe UI Semi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Segoe UI"/>
              </a:rPr>
              <a:t>Commercials may change based on scope finalization.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Segoe UI"/>
              </a:rPr>
              <a:t>Content Transformation is optional and should start from Day 1 of Sprint 2 (if required).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Segoe UI"/>
              </a:rPr>
              <a:t>Integration timeline (Phase 2) subject to change after requirement finalization.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Segoe UI"/>
              </a:rPr>
              <a:t>All dates use working days only (Mon–Fri).</a:t>
            </a:r>
          </a:p>
          <a:p>
            <a:pPr marL="228600" indent="-228600">
              <a:buFont typeface="Segoe UI"/>
              <a:buChar char="⚠"/>
            </a:pPr>
            <a:endParaRPr lang="en-US" sz="1100" dirty="0">
              <a:solidFill>
                <a:srgbClr val="333333"/>
              </a:solidFill>
              <a:latin typeface="Segoe UI"/>
            </a:endParaRPr>
          </a:p>
          <a:p>
            <a:pPr>
              <a:buNone/>
            </a:pPr>
            <a:r>
              <a:rPr lang="en-US" sz="1000" b="1" dirty="0">
                <a:solidFill>
                  <a:srgbClr val="C00000"/>
                </a:solidFill>
                <a:latin typeface="Segoe UI Semibold"/>
              </a:rPr>
              <a:t>⚠ DISCLAIMER</a:t>
            </a:r>
          </a:p>
          <a:p>
            <a:pPr>
              <a:buNone/>
            </a:pPr>
            <a:endParaRPr lang="en-US" sz="1000" b="1" dirty="0">
              <a:solidFill>
                <a:srgbClr val="C00000"/>
              </a:solidFill>
              <a:latin typeface="Segoe UI Semibold"/>
            </a:endParaRPr>
          </a:p>
          <a:p>
            <a:pPr>
              <a:buNone/>
            </a:pPr>
            <a:r>
              <a:rPr lang="en-US" sz="900" dirty="0">
                <a:solidFill>
                  <a:srgbClr val="555555"/>
                </a:solidFill>
                <a:latin typeface="Segoe UI"/>
              </a:rPr>
              <a:t>This timeline is tentative and subject to change. Actual dates may be preponed or postponed based on: </a:t>
            </a:r>
          </a:p>
          <a:p>
            <a:pPr>
              <a:buNone/>
            </a:pPr>
            <a:endParaRPr lang="en-US" sz="900" dirty="0">
              <a:solidFill>
                <a:srgbClr val="555555"/>
              </a:solidFill>
              <a:latin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55555"/>
                </a:solidFill>
                <a:latin typeface="Segoe UI"/>
              </a:rPr>
              <a:t>Scope changes or requirement finalization delays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55555"/>
                </a:solidFill>
                <a:latin typeface="Segoe UI"/>
              </a:rPr>
              <a:t>Availability of third-party APIs, credentials, or environment access from WES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55555"/>
                </a:solidFill>
                <a:latin typeface="Segoe UI"/>
              </a:rPr>
              <a:t>Volume and complexity of content transformation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55555"/>
                </a:solidFill>
                <a:latin typeface="Segoe UI"/>
              </a:rPr>
              <a:t>Defect resolution timelines during SIT/UAT phases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55555"/>
                </a:solidFill>
                <a:latin typeface="Segoe UI"/>
              </a:rPr>
              <a:t>Resource availability on either WES or Knowmax side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555555"/>
                </a:solidFill>
                <a:latin typeface="Segoe UI"/>
              </a:rPr>
              <a:t>Dependencies on external integrations or third-party systems. Commercials may also change based on final scope finalization.</a:t>
            </a:r>
          </a:p>
        </p:txBody>
      </p:sp>
    </p:spTree>
    <p:extLst>
      <p:ext uri="{BB962C8B-B14F-4D97-AF65-F5344CB8AC3E}">
        <p14:creationId xmlns:p14="http://schemas.microsoft.com/office/powerpoint/2010/main" val="2286374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AF6D-9FCB-B711-2A71-9827AFC67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1F4E79"/>
                </a:solidFill>
                <a:latin typeface="Segoe UI Semibold"/>
              </a:rPr>
              <a:t>Status Legend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8BCC266-E7BD-F54F-B1DE-47A29425581A}"/>
              </a:ext>
            </a:extLst>
          </p:cNvPr>
          <p:cNvSpPr/>
          <p:nvPr/>
        </p:nvSpPr>
        <p:spPr>
          <a:xfrm>
            <a:off x="1651000" y="2044700"/>
            <a:ext cx="1524000" cy="609600"/>
          </a:xfrm>
          <a:prstGeom prst="roundRect">
            <a:avLst/>
          </a:prstGeom>
          <a:solidFill>
            <a:srgbClr val="E0E0E0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333333"/>
                </a:solidFill>
                <a:latin typeface="Segoe UI Semibold"/>
                <a:cs typeface="Segoe UI Semibold"/>
              </a:rPr>
              <a:t>Not Started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6763B158-E8D7-2C4B-AABF-AA6F93D0BB1F}"/>
              </a:ext>
            </a:extLst>
          </p:cNvPr>
          <p:cNvSpPr/>
          <p:nvPr/>
        </p:nvSpPr>
        <p:spPr>
          <a:xfrm>
            <a:off x="3365500" y="2171700"/>
            <a:ext cx="381000" cy="355600"/>
          </a:xfrm>
          <a:prstGeom prst="rightArrow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87C795-0DAA-724C-A40E-04343DA61BCD}"/>
              </a:ext>
            </a:extLst>
          </p:cNvPr>
          <p:cNvSpPr txBox="1"/>
          <p:nvPr/>
        </p:nvSpPr>
        <p:spPr>
          <a:xfrm>
            <a:off x="3937000" y="2044700"/>
            <a:ext cx="6731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Segoe UI"/>
                <a:cs typeface="Segoe UI"/>
              </a:rPr>
              <a:t>Work has not yet begun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4990D2-E21C-0A48-83A3-4F5C360BE82A}"/>
              </a:ext>
            </a:extLst>
          </p:cNvPr>
          <p:cNvSpPr/>
          <p:nvPr/>
        </p:nvSpPr>
        <p:spPr>
          <a:xfrm>
            <a:off x="1651000" y="2908300"/>
            <a:ext cx="1524000" cy="609600"/>
          </a:xfrm>
          <a:prstGeom prst="roundRect">
            <a:avLst/>
          </a:prstGeom>
          <a:solidFill>
            <a:srgbClr val="FFEB9C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333333"/>
                </a:solidFill>
                <a:latin typeface="Segoe UI Semibold"/>
                <a:cs typeface="Segoe UI Semibold"/>
              </a:rPr>
              <a:t>In Progress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D3F01B9-2C54-0B48-A92B-FA34D779A368}"/>
              </a:ext>
            </a:extLst>
          </p:cNvPr>
          <p:cNvSpPr/>
          <p:nvPr/>
        </p:nvSpPr>
        <p:spPr>
          <a:xfrm>
            <a:off x="3365500" y="3035300"/>
            <a:ext cx="381000" cy="355600"/>
          </a:xfrm>
          <a:prstGeom prst="rightArrow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26DDF-DAF1-954F-8798-7C559D7C8E9A}"/>
              </a:ext>
            </a:extLst>
          </p:cNvPr>
          <p:cNvSpPr txBox="1"/>
          <p:nvPr/>
        </p:nvSpPr>
        <p:spPr>
          <a:xfrm>
            <a:off x="3937000" y="2908300"/>
            <a:ext cx="6731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Segoe UI"/>
                <a:cs typeface="Segoe UI"/>
              </a:rPr>
              <a:t>Work is actively underway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61FF31-28C5-364F-9844-41328ADE1CD2}"/>
              </a:ext>
            </a:extLst>
          </p:cNvPr>
          <p:cNvSpPr/>
          <p:nvPr/>
        </p:nvSpPr>
        <p:spPr>
          <a:xfrm>
            <a:off x="1651000" y="3771900"/>
            <a:ext cx="1524000" cy="609600"/>
          </a:xfrm>
          <a:prstGeom prst="roundRect">
            <a:avLst/>
          </a:prstGeom>
          <a:solidFill>
            <a:srgbClr val="C6EFCE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333333"/>
                </a:solidFill>
                <a:latin typeface="Segoe UI Semibold"/>
                <a:cs typeface="Segoe UI Semibold"/>
              </a:rPr>
              <a:t>Completed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FFF8236C-D18E-E74F-8E09-66DF6966121A}"/>
              </a:ext>
            </a:extLst>
          </p:cNvPr>
          <p:cNvSpPr/>
          <p:nvPr/>
        </p:nvSpPr>
        <p:spPr>
          <a:xfrm>
            <a:off x="3365500" y="3898900"/>
            <a:ext cx="381000" cy="355600"/>
          </a:xfrm>
          <a:prstGeom prst="rightArrow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DFDDE-4909-C04A-8922-DAED53C6A4DA}"/>
              </a:ext>
            </a:extLst>
          </p:cNvPr>
          <p:cNvSpPr txBox="1"/>
          <p:nvPr/>
        </p:nvSpPr>
        <p:spPr>
          <a:xfrm>
            <a:off x="3937000" y="3771900"/>
            <a:ext cx="6731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Segoe UI"/>
                <a:cs typeface="Segoe UI"/>
              </a:rPr>
              <a:t>Work is finished and verified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DE8175-4163-F046-8369-9329BF21C416}"/>
              </a:ext>
            </a:extLst>
          </p:cNvPr>
          <p:cNvSpPr/>
          <p:nvPr/>
        </p:nvSpPr>
        <p:spPr>
          <a:xfrm>
            <a:off x="1651000" y="4635500"/>
            <a:ext cx="1524000" cy="609600"/>
          </a:xfrm>
          <a:prstGeom prst="roundRect">
            <a:avLst/>
          </a:prstGeom>
          <a:solidFill>
            <a:srgbClr val="FCD5B4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333333"/>
                </a:solidFill>
                <a:latin typeface="Segoe UI Semibold"/>
                <a:cs typeface="Segoe UI Semibold"/>
              </a:rPr>
              <a:t>On Hold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D2629DB-E8CF-A34E-B86C-C1287761EBE6}"/>
              </a:ext>
            </a:extLst>
          </p:cNvPr>
          <p:cNvSpPr/>
          <p:nvPr/>
        </p:nvSpPr>
        <p:spPr>
          <a:xfrm>
            <a:off x="3365500" y="4762500"/>
            <a:ext cx="381000" cy="355600"/>
          </a:xfrm>
          <a:prstGeom prst="rightArrow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142589-C420-164E-8D68-4AA69095F144}"/>
              </a:ext>
            </a:extLst>
          </p:cNvPr>
          <p:cNvSpPr txBox="1"/>
          <p:nvPr/>
        </p:nvSpPr>
        <p:spPr>
          <a:xfrm>
            <a:off x="3937000" y="4635500"/>
            <a:ext cx="6731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Segoe UI"/>
                <a:cs typeface="Segoe UI"/>
              </a:rPr>
              <a:t>Paused, awaiting decision or input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5CA3BA6-23DE-0247-9969-3614DAD01E9E}"/>
              </a:ext>
            </a:extLst>
          </p:cNvPr>
          <p:cNvSpPr/>
          <p:nvPr/>
        </p:nvSpPr>
        <p:spPr>
          <a:xfrm>
            <a:off x="1651000" y="5499100"/>
            <a:ext cx="1524000" cy="609600"/>
          </a:xfrm>
          <a:prstGeom prst="roundRect">
            <a:avLst/>
          </a:prstGeom>
          <a:solidFill>
            <a:srgbClr val="FFC7CE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333333"/>
                </a:solidFill>
                <a:latin typeface="Segoe UI Semibold"/>
                <a:cs typeface="Segoe UI Semibold"/>
              </a:rPr>
              <a:t>Blocked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6A4BA639-1C4A-1A4E-9D00-2607DF620AF5}"/>
              </a:ext>
            </a:extLst>
          </p:cNvPr>
          <p:cNvSpPr/>
          <p:nvPr/>
        </p:nvSpPr>
        <p:spPr>
          <a:xfrm>
            <a:off x="3365500" y="5626100"/>
            <a:ext cx="381000" cy="355600"/>
          </a:xfrm>
          <a:prstGeom prst="rightArrow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73667C-8DF9-0A48-8410-39C13F007B4F}"/>
              </a:ext>
            </a:extLst>
          </p:cNvPr>
          <p:cNvSpPr txBox="1"/>
          <p:nvPr/>
        </p:nvSpPr>
        <p:spPr>
          <a:xfrm>
            <a:off x="3937000" y="5499100"/>
            <a:ext cx="6731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Segoe UI"/>
                <a:cs typeface="Segoe UI"/>
              </a:rPr>
              <a:t>Cannot proceed — escalate immediately</a:t>
            </a:r>
          </a:p>
        </p:txBody>
      </p:sp>
    </p:spTree>
    <p:extLst>
      <p:ext uri="{BB962C8B-B14F-4D97-AF65-F5344CB8AC3E}">
        <p14:creationId xmlns:p14="http://schemas.microsoft.com/office/powerpoint/2010/main" val="191320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648754222]">
  <a:themeElements>
    <a:clrScheme name="WES Project">
      <a:dk1>
        <a:srgbClr val="1F4E79"/>
      </a:dk1>
      <a:lt1>
        <a:srgbClr val="FFFFFF"/>
      </a:lt1>
      <a:dk2>
        <a:srgbClr val="2E75B6"/>
      </a:dk2>
      <a:lt2>
        <a:srgbClr val="F2F6FA"/>
      </a:lt2>
      <a:accent1>
        <a:srgbClr val="1F4E79"/>
      </a:accent1>
      <a:accent2>
        <a:srgbClr val="2E75B6"/>
      </a:accent2>
      <a:accent3>
        <a:srgbClr val="5B9BD5"/>
      </a:accent3>
      <a:accent4>
        <a:srgbClr val="41A85F"/>
      </a:accent4>
      <a:accent5>
        <a:srgbClr val="F0AD4E"/>
      </a:accent5>
      <a:accent6>
        <a:srgbClr val="D9534F"/>
      </a:accent6>
      <a:hlink>
        <a:srgbClr val="467886"/>
      </a:hlink>
      <a:folHlink>
        <a:srgbClr val="96607D"/>
      </a:folHlink>
    </a:clrScheme>
    <a:fontScheme name="WES Project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BEAB59-8B73-7949-AC0B-7A1F85CF6542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7b83518a-c5fc-45ec-8c81-2b29eeb7db0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2024</Words>
  <Application>Microsoft Macintosh PowerPoint</Application>
  <PresentationFormat>Widescreen</PresentationFormat>
  <Paragraphs>533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Segoe UI</vt:lpstr>
      <vt:lpstr>Segoe UI Semibold</vt:lpstr>
      <vt:lpstr>Office Theme [1775648754222]</vt:lpstr>
      <vt:lpstr>WES Project Plan</vt:lpstr>
      <vt:lpstr>Overview &amp; How to Read the WBS</vt:lpstr>
      <vt:lpstr>Row Types &amp; Color Coding</vt:lpstr>
      <vt:lpstr>Sprint Timeline</vt:lpstr>
      <vt:lpstr>Key Milestones</vt:lpstr>
      <vt:lpstr>WES Project Plan — Gantt Chart</vt:lpstr>
      <vt:lpstr>WBS Detail — Sprint 0–1: Prep &amp; Initial Migration</vt:lpstr>
      <vt:lpstr>WBS Detail — Sprint 2–3: Full Migration &amp; SIT/KUT</vt:lpstr>
      <vt:lpstr>WBS Detail — Sprint 4–5: Final Validation &amp; Phase 2</vt:lpstr>
      <vt:lpstr>How to Use &amp; Important Notes</vt:lpstr>
      <vt:lpstr>Status Legend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Prabhat</dc:creator>
  <cp:lastModifiedBy>Aman Prabhat</cp:lastModifiedBy>
  <cp:revision>5</cp:revision>
  <dcterms:created xsi:type="dcterms:W3CDTF">2026-04-08T06:31:54Z</dcterms:created>
  <dcterms:modified xsi:type="dcterms:W3CDTF">2026-04-08T16:15:49Z</dcterms:modified>
</cp:coreProperties>
</file>